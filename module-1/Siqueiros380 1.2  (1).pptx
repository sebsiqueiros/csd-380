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lVdJjT2kq6EpWENtbkAC6HivX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atlassian.com/continuous-delivery/principles/value-stream-mapping" TargetMode="External"/><Relationship Id="rId4" Type="http://schemas.openxmlformats.org/officeDocument/2006/relationships/hyperlink" Target="https://docs.aws.amazon.com/prescriptive-guidance/latest/strategy-devops-value-stream-mapping/introduction.html" TargetMode="External"/><Relationship Id="rId5" Type="http://schemas.openxmlformats.org/officeDocument/2006/relationships/hyperlink" Target="https://itrevolution.com/wp-content/uploads/2022/06/DOHB2_Excerp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The Technology Value Stream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77240" y="1965960"/>
            <a:ext cx="1005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lang="en-US" sz="2600">
                <a:solidFill>
                  <a:srgbClr val="20737C"/>
                </a:solidFill>
              </a:rPr>
              <a:t>S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oftware </a:t>
            </a:r>
            <a:r>
              <a:rPr lang="en-US" sz="2600">
                <a:solidFill>
                  <a:srgbClr val="20737C"/>
                </a:solidFill>
              </a:rPr>
              <a:t>M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oves </a:t>
            </a:r>
            <a:r>
              <a:rPr lang="en-US" sz="2600">
                <a:solidFill>
                  <a:srgbClr val="20737C"/>
                </a:solidFill>
              </a:rPr>
              <a:t>F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rom </a:t>
            </a:r>
            <a:r>
              <a:rPr lang="en-US" sz="2600">
                <a:solidFill>
                  <a:srgbClr val="20737C"/>
                </a:solidFill>
              </a:rPr>
              <a:t>A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600">
                <a:solidFill>
                  <a:srgbClr val="20737C"/>
                </a:solidFill>
              </a:rPr>
              <a:t>I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dea </a:t>
            </a:r>
            <a:r>
              <a:rPr lang="en-US" sz="2600">
                <a:solidFill>
                  <a:srgbClr val="20737C"/>
                </a:solidFill>
              </a:rPr>
              <a:t>T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600">
                <a:solidFill>
                  <a:srgbClr val="20737C"/>
                </a:solidFill>
              </a:rPr>
              <a:t>T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he </a:t>
            </a:r>
            <a:r>
              <a:rPr lang="en-US" sz="2600">
                <a:solidFill>
                  <a:srgbClr val="20737C"/>
                </a:solidFill>
              </a:rPr>
              <a:t>C</a:t>
            </a:r>
            <a:r>
              <a:rPr b="0" i="0" lang="en-US" sz="2600" u="none" cap="none" strike="noStrike">
                <a:solidFill>
                  <a:srgbClr val="20737C"/>
                </a:solidFill>
                <a:latin typeface="Arial"/>
                <a:ea typeface="Arial"/>
                <a:cs typeface="Arial"/>
                <a:sym typeface="Arial"/>
              </a:rPr>
              <a:t>ustomer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77240" y="4251960"/>
            <a:ext cx="100584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CSD-430 / DevOps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Sebastian Siqueiros  |  October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What Is the Technology Value Stream?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The steps a software change goes through before it reaches the customer. (Kim et al., 2021; Atlassian, n.d.)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914400" y="225856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Includes development, testing, approvals, and deployment.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914400" y="3099816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The goal is to deliver useful changes quickly without sacrificing quality.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Lead Time vs. Processing Time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Lead time: the total time from a request being made until it is completed. (Kim et al., 2021, p. 9)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914400" y="225856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Processing time: the time people actually spend working on that request.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914400" y="3099816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Waiting in queues counts toward lead time, but not processing time.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914400" y="3941064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Customers experience the full lead time, not just the work time.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Graphic: Where Does the Time Go?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777240" y="123444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Example: A change takes 5 days overall, but only 6 hours of actual work. (Kim et al., 2021, p. 9; AWS, n.d.)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94360" y="2468880"/>
            <a:ext cx="2651760" cy="1508760"/>
          </a:xfrm>
          <a:prstGeom prst="roundRect">
            <a:avLst>
              <a:gd fmla="val 16667" name="adj"/>
            </a:avLst>
          </a:prstGeom>
          <a:solidFill>
            <a:srgbClr val="D2DE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722376" y="263347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Waiting for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722376" y="35021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2 days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493008" y="2468880"/>
            <a:ext cx="2651760" cy="1508760"/>
          </a:xfrm>
          <a:prstGeom prst="roundRect">
            <a:avLst>
              <a:gd fmla="val 16667" name="adj"/>
            </a:avLst>
          </a:prstGeom>
          <a:solidFill>
            <a:srgbClr val="78B7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3621024" y="263347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Coding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3621024" y="35021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3 hours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391656" y="2468880"/>
            <a:ext cx="2651760" cy="1508760"/>
          </a:xfrm>
          <a:prstGeom prst="roundRect">
            <a:avLst>
              <a:gd fmla="val 16667" name="adj"/>
            </a:avLst>
          </a:prstGeom>
          <a:solidFill>
            <a:srgbClr val="D2DEE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519672" y="263347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Waiting for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6519672" y="35021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2 days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9290304" y="2468880"/>
            <a:ext cx="2651760" cy="1508760"/>
          </a:xfrm>
          <a:prstGeom prst="roundRect">
            <a:avLst>
              <a:gd fmla="val 16667" name="adj"/>
            </a:avLst>
          </a:prstGeom>
          <a:solidFill>
            <a:srgbClr val="78B7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418320" y="2633472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Testing &amp;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9418320" y="35021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3 hours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822960" y="48006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Lead time = 5 days (elapsed time)    |    Processing time = 6 hours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The Common Scenario: Deployments Take Months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Large systems may depend on many teams and tightly connected applications. (Kim et al., 2021, p. 10)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914400" y="225856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Manual testing, limited test environments, and multiple approvals add delays.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914400" y="3099816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Teams may combine large batches of code near the end of a project.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914400" y="3941064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When problems show up late, fixing them can take days or weeks.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Why Long Deployment Times Hurt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Customers wait longer for fixes and improvements. (Kim et al., 2021, pp. 9–10)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914400" y="225856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Big releases make it harder to find which change caused a problem.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914400" y="3099816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Developers spend time fixing integration issues instead of building features.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914400" y="3941064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The biggest delay is often waiting between steps, not writing code.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The DevOps Ideal: Minutes Instead of Months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Developers make small changes and commit them frequently. (Kim et al., 2021, pp. 10–11)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914400" y="225856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Automated tests give fast feedback when something breaks.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914400" y="3099816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A reliable deployment pipeline moves approved changes toward production.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914400" y="3941064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Teams can release more often and fix issues sooner.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How Teams Can Improve the Value Stream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Map the steps from code change to production and measure the waiting time. (Atlassian, n.d.; AWS, n.d.)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914400" y="2258568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Reduce handoffs, long approval queues, and oversized batches.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914400" y="3099816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Automate repeatable tests and deployments where practical.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914400" y="3941064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• Keep improving the process using feedback from each release.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0737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364A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777240" y="1353312"/>
            <a:ext cx="10652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B555F"/>
                </a:solidFill>
              </a:rPr>
              <a:t>Mukherjee, J</a:t>
            </a:r>
            <a:r>
              <a:rPr b="0" i="0" lang="en-US" sz="16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600">
                <a:solidFill>
                  <a:srgbClr val="4B555F"/>
                </a:solidFill>
              </a:rPr>
              <a:t> </a:t>
            </a:r>
            <a:r>
              <a:rPr b="0" i="0" lang="en-US" sz="16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Value stream mapping explained.</a:t>
            </a:r>
            <a:r>
              <a:rPr lang="en-US" sz="1600">
                <a:solidFill>
                  <a:srgbClr val="4B555F"/>
                </a:solidFill>
              </a:rPr>
              <a:t> Atlassian.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https://www.atlassian.com/continuous-delivery/principles/value-stream-mapping</a:t>
            </a:r>
            <a:endParaRPr b="0" i="0" sz="1600" u="none" cap="none" strike="noStrike">
              <a:solidFill>
                <a:srgbClr val="4B55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684450" y="2387175"/>
            <a:ext cx="10652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B555F"/>
                </a:solidFill>
              </a:rPr>
              <a:t>Kingery, M</a:t>
            </a:r>
            <a:r>
              <a:rPr b="0" i="0" lang="en-US" sz="16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600">
                <a:solidFill>
                  <a:srgbClr val="4B555F"/>
                </a:solidFill>
              </a:rPr>
              <a:t> </a:t>
            </a:r>
            <a:r>
              <a:rPr b="0" i="0" lang="en-US" sz="16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Using development value stream mapping to identify constraints to DevOps outcomes.</a:t>
            </a:r>
            <a:r>
              <a:rPr lang="en-US" sz="1600">
                <a:solidFill>
                  <a:srgbClr val="4B555F"/>
                </a:solidFill>
              </a:rPr>
              <a:t> Amazon Web Services.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https://docs.aws.amazon.com/prescriptive-guidance/latest/strategy-devops-value-stream-mapping/introduction.html</a:t>
            </a:r>
            <a:endParaRPr b="0" i="0" sz="1600" u="none" cap="none" strike="noStrike">
              <a:solidFill>
                <a:srgbClr val="4B55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769478" y="3351392"/>
            <a:ext cx="106527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B555F"/>
                </a:solidFill>
                <a:latin typeface="Arial"/>
                <a:ea typeface="Arial"/>
                <a:cs typeface="Arial"/>
                <a:sym typeface="Arial"/>
              </a:rPr>
              <a:t>Kim, G., Humble, J., Debois, P., &amp; Willis, J. (2021). The DevOps handbook: How to create world-class agility, reliability, &amp; security in technology organizations (2nd ed.). IT Revolution Press.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https://itrevolution.com/wp-content/uploads/2022/06/DOHB2_Excerpt.pd</a:t>
            </a:r>
            <a:r>
              <a:rPr lang="en-US" sz="1600">
                <a:solidFill>
                  <a:srgbClr val="4B555F"/>
                </a:solidFill>
              </a:rPr>
              <a:t>f</a:t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B555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